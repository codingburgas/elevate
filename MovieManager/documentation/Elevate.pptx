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TS Damas Sans Bold" panose="020B0604020202020204" charset="-78"/>
      <p:regular r:id="rId8"/>
    </p:embeddedFont>
    <p:embeddedFont>
      <p:font typeface="TT Hoves" panose="020B0604020202020204" charset="0"/>
      <p:regular r:id="rId9"/>
    </p:embeddedFont>
    <p:embeddedFont>
      <p:font typeface="TT Hoves Bold" panose="020B0604020202020204"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3303" b="-103530"/>
            </a:stretch>
          </a:blipFill>
        </p:spPr>
        <p:txBody>
          <a:bodyPr/>
          <a:lstStyle/>
          <a:p>
            <a:endParaRPr lang="bg-BG"/>
          </a:p>
        </p:txBody>
      </p:sp>
      <p:grpSp>
        <p:nvGrpSpPr>
          <p:cNvPr id="3" name="Group 3"/>
          <p:cNvGrpSpPr/>
          <p:nvPr/>
        </p:nvGrpSpPr>
        <p:grpSpPr>
          <a:xfrm>
            <a:off x="-1829" y="-132781"/>
            <a:ext cx="18289829" cy="5738026"/>
            <a:chOff x="0" y="0"/>
            <a:chExt cx="4817074" cy="1511250"/>
          </a:xfrm>
        </p:grpSpPr>
        <p:sp>
          <p:nvSpPr>
            <p:cNvPr id="4" name="Freeform 4"/>
            <p:cNvSpPr/>
            <p:nvPr/>
          </p:nvSpPr>
          <p:spPr>
            <a:xfrm>
              <a:off x="0" y="0"/>
              <a:ext cx="4817074" cy="1511250"/>
            </a:xfrm>
            <a:custGeom>
              <a:avLst/>
              <a:gdLst/>
              <a:ahLst/>
              <a:cxnLst/>
              <a:rect l="l" t="t" r="r" b="b"/>
              <a:pathLst>
                <a:path w="4817074" h="1511250">
                  <a:moveTo>
                    <a:pt x="0" y="0"/>
                  </a:moveTo>
                  <a:lnTo>
                    <a:pt x="4817074" y="0"/>
                  </a:lnTo>
                  <a:lnTo>
                    <a:pt x="4817074" y="1511250"/>
                  </a:lnTo>
                  <a:lnTo>
                    <a:pt x="0" y="1511250"/>
                  </a:lnTo>
                  <a:close/>
                </a:path>
              </a:pathLst>
            </a:custGeom>
            <a:gradFill rotWithShape="1">
              <a:gsLst>
                <a:gs pos="0">
                  <a:srgbClr val="000000">
                    <a:alpha val="100000"/>
                  </a:srgbClr>
                </a:gs>
                <a:gs pos="100000">
                  <a:srgbClr val="000000">
                    <a:alpha val="0"/>
                  </a:srgbClr>
                </a:gs>
              </a:gsLst>
              <a:lin ang="5400000"/>
            </a:gradFill>
          </p:spPr>
          <p:txBody>
            <a:bodyPr/>
            <a:lstStyle/>
            <a:p>
              <a:endParaRPr lang="bg-BG"/>
            </a:p>
          </p:txBody>
        </p:sp>
        <p:sp>
          <p:nvSpPr>
            <p:cNvPr id="5" name="TextBox 5"/>
            <p:cNvSpPr txBox="1"/>
            <p:nvPr/>
          </p:nvSpPr>
          <p:spPr>
            <a:xfrm>
              <a:off x="0" y="-38100"/>
              <a:ext cx="4817074" cy="154935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375061" y="4416592"/>
            <a:ext cx="11732027" cy="10562856"/>
          </a:xfrm>
          <a:custGeom>
            <a:avLst/>
            <a:gdLst/>
            <a:ahLst/>
            <a:cxnLst/>
            <a:rect l="l" t="t" r="r" b="b"/>
            <a:pathLst>
              <a:path w="11732027" h="10562856">
                <a:moveTo>
                  <a:pt x="0" y="0"/>
                </a:moveTo>
                <a:lnTo>
                  <a:pt x="11732027" y="0"/>
                </a:lnTo>
                <a:lnTo>
                  <a:pt x="11732027" y="10562856"/>
                </a:lnTo>
                <a:lnTo>
                  <a:pt x="0" y="10562856"/>
                </a:lnTo>
                <a:lnTo>
                  <a:pt x="0" y="0"/>
                </a:lnTo>
                <a:close/>
              </a:path>
            </a:pathLst>
          </a:custGeom>
          <a:blipFill>
            <a:blip r:embed="rId3"/>
            <a:stretch>
              <a:fillRect/>
            </a:stretch>
          </a:blipFill>
        </p:spPr>
        <p:txBody>
          <a:bodyPr/>
          <a:lstStyle/>
          <a:p>
            <a:endParaRPr lang="bg-BG"/>
          </a:p>
        </p:txBody>
      </p:sp>
      <p:sp>
        <p:nvSpPr>
          <p:cNvPr id="7" name="TextBox 7"/>
          <p:cNvSpPr txBox="1"/>
          <p:nvPr/>
        </p:nvSpPr>
        <p:spPr>
          <a:xfrm>
            <a:off x="5887296" y="3478707"/>
            <a:ext cx="11372004" cy="3067373"/>
          </a:xfrm>
          <a:prstGeom prst="rect">
            <a:avLst/>
          </a:prstGeom>
        </p:spPr>
        <p:txBody>
          <a:bodyPr lIns="0" tIns="0" rIns="0" bIns="0" rtlCol="0" anchor="t">
            <a:spAutoFit/>
          </a:bodyPr>
          <a:lstStyle/>
          <a:p>
            <a:pPr algn="r">
              <a:lnSpc>
                <a:spcPts val="20166"/>
              </a:lnSpc>
            </a:pPr>
            <a:r>
              <a:rPr lang="en-US" sz="30555" b="1" spc="-1497">
                <a:solidFill>
                  <a:srgbClr val="D40019"/>
                </a:solidFill>
                <a:latin typeface="TS Damas Sans Bold"/>
                <a:ea typeface="TS Damas Sans Bold"/>
                <a:cs typeface="TS Damas Sans Bold"/>
                <a:sym typeface="TS Damas Sans Bold"/>
              </a:rPr>
              <a:t>ELEVATE</a:t>
            </a:r>
          </a:p>
        </p:txBody>
      </p:sp>
      <p:sp>
        <p:nvSpPr>
          <p:cNvPr id="8" name="TextBox 8"/>
          <p:cNvSpPr txBox="1"/>
          <p:nvPr/>
        </p:nvSpPr>
        <p:spPr>
          <a:xfrm>
            <a:off x="1028700" y="1028700"/>
            <a:ext cx="3540070" cy="762000"/>
          </a:xfrm>
          <a:prstGeom prst="rect">
            <a:avLst/>
          </a:prstGeom>
        </p:spPr>
        <p:txBody>
          <a:bodyPr lIns="0" tIns="0" rIns="0" bIns="0" rtlCol="0" anchor="t">
            <a:spAutoFit/>
          </a:bodyPr>
          <a:lstStyle/>
          <a:p>
            <a:pPr algn="l">
              <a:lnSpc>
                <a:spcPts val="3035"/>
              </a:lnSpc>
            </a:pPr>
            <a:r>
              <a:rPr lang="en-US" sz="2529" spc="242">
                <a:solidFill>
                  <a:srgbClr val="FFFFFF"/>
                </a:solidFill>
                <a:latin typeface="TT Hoves"/>
                <a:ea typeface="TT Hoves"/>
                <a:cs typeface="TT Hoves"/>
                <a:sym typeface="TT Hoves"/>
              </a:rPr>
              <a:t>PRESENTED BY THE ELEVATE TEAM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790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881" b="-70951"/>
            </a:stretch>
          </a:blipFill>
        </p:spPr>
        <p:txBody>
          <a:bodyPr/>
          <a:lstStyle/>
          <a:p>
            <a:endParaRPr lang="bg-BG"/>
          </a:p>
        </p:txBody>
      </p:sp>
      <p:grpSp>
        <p:nvGrpSpPr>
          <p:cNvPr id="3" name="Group 3"/>
          <p:cNvGrpSpPr/>
          <p:nvPr/>
        </p:nvGrpSpPr>
        <p:grpSpPr>
          <a:xfrm>
            <a:off x="-54120" y="-132781"/>
            <a:ext cx="18289829" cy="5738026"/>
            <a:chOff x="0" y="0"/>
            <a:chExt cx="4817074" cy="1511250"/>
          </a:xfrm>
        </p:grpSpPr>
        <p:sp>
          <p:nvSpPr>
            <p:cNvPr id="4" name="Freeform 4"/>
            <p:cNvSpPr/>
            <p:nvPr/>
          </p:nvSpPr>
          <p:spPr>
            <a:xfrm>
              <a:off x="0" y="0"/>
              <a:ext cx="4817074" cy="1511250"/>
            </a:xfrm>
            <a:custGeom>
              <a:avLst/>
              <a:gdLst/>
              <a:ahLst/>
              <a:cxnLst/>
              <a:rect l="l" t="t" r="r" b="b"/>
              <a:pathLst>
                <a:path w="4817074" h="1511250">
                  <a:moveTo>
                    <a:pt x="0" y="0"/>
                  </a:moveTo>
                  <a:lnTo>
                    <a:pt x="4817074" y="0"/>
                  </a:lnTo>
                  <a:lnTo>
                    <a:pt x="4817074" y="1511250"/>
                  </a:lnTo>
                  <a:lnTo>
                    <a:pt x="0" y="1511250"/>
                  </a:lnTo>
                  <a:close/>
                </a:path>
              </a:pathLst>
            </a:custGeom>
            <a:gradFill rotWithShape="1">
              <a:gsLst>
                <a:gs pos="0">
                  <a:srgbClr val="000000">
                    <a:alpha val="100000"/>
                  </a:srgbClr>
                </a:gs>
                <a:gs pos="100000">
                  <a:srgbClr val="000000">
                    <a:alpha val="0"/>
                  </a:srgbClr>
                </a:gs>
              </a:gsLst>
              <a:lin ang="5400000"/>
            </a:gradFill>
          </p:spPr>
          <p:txBody>
            <a:bodyPr/>
            <a:lstStyle/>
            <a:p>
              <a:endParaRPr lang="bg-BG"/>
            </a:p>
          </p:txBody>
        </p:sp>
        <p:sp>
          <p:nvSpPr>
            <p:cNvPr id="5" name="TextBox 5"/>
            <p:cNvSpPr txBox="1"/>
            <p:nvPr/>
          </p:nvSpPr>
          <p:spPr>
            <a:xfrm>
              <a:off x="0" y="-38100"/>
              <a:ext cx="4817074" cy="1549350"/>
            </a:xfrm>
            <a:prstGeom prst="rect">
              <a:avLst/>
            </a:prstGeom>
          </p:spPr>
          <p:txBody>
            <a:bodyPr lIns="50800" tIns="50800" rIns="50800" bIns="50800" rtlCol="0" anchor="ctr"/>
            <a:lstStyle/>
            <a:p>
              <a:pPr algn="ctr">
                <a:lnSpc>
                  <a:spcPts val="2659"/>
                </a:lnSpc>
              </a:pPr>
              <a:endParaRPr/>
            </a:p>
          </p:txBody>
        </p:sp>
      </p:grpSp>
      <p:sp>
        <p:nvSpPr>
          <p:cNvPr id="6" name="AutoShape 6"/>
          <p:cNvSpPr/>
          <p:nvPr/>
        </p:nvSpPr>
        <p:spPr>
          <a:xfrm flipH="1">
            <a:off x="8785994" y="3337620"/>
            <a:ext cx="1628673" cy="0"/>
          </a:xfrm>
          <a:prstGeom prst="line">
            <a:avLst/>
          </a:prstGeom>
          <a:ln w="38100" cap="flat">
            <a:solidFill>
              <a:srgbClr val="D40019"/>
            </a:solidFill>
            <a:prstDash val="solid"/>
            <a:headEnd type="none" w="sm" len="sm"/>
            <a:tailEnd type="none" w="sm" len="sm"/>
          </a:ln>
        </p:spPr>
        <p:txBody>
          <a:bodyPr/>
          <a:lstStyle/>
          <a:p>
            <a:endParaRPr lang="bg-BG"/>
          </a:p>
        </p:txBody>
      </p:sp>
      <p:sp>
        <p:nvSpPr>
          <p:cNvPr id="7" name="Freeform 7"/>
          <p:cNvSpPr/>
          <p:nvPr/>
        </p:nvSpPr>
        <p:spPr>
          <a:xfrm>
            <a:off x="-2472347" y="-4701480"/>
            <a:ext cx="8778240" cy="8229600"/>
          </a:xfrm>
          <a:custGeom>
            <a:avLst/>
            <a:gdLst/>
            <a:ahLst/>
            <a:cxnLst/>
            <a:rect l="l" t="t" r="r" b="b"/>
            <a:pathLst>
              <a:path w="8778240" h="8229600">
                <a:moveTo>
                  <a:pt x="0" y="0"/>
                </a:moveTo>
                <a:lnTo>
                  <a:pt x="8778240" y="0"/>
                </a:lnTo>
                <a:lnTo>
                  <a:pt x="8778240" y="8229600"/>
                </a:lnTo>
                <a:lnTo>
                  <a:pt x="0" y="8229600"/>
                </a:lnTo>
                <a:lnTo>
                  <a:pt x="0" y="0"/>
                </a:lnTo>
                <a:close/>
              </a:path>
            </a:pathLst>
          </a:custGeom>
          <a:blipFill>
            <a:blip r:embed="rId3"/>
            <a:stretch>
              <a:fillRect/>
            </a:stretch>
          </a:blipFill>
        </p:spPr>
        <p:txBody>
          <a:bodyPr/>
          <a:lstStyle/>
          <a:p>
            <a:endParaRPr lang="bg-BG"/>
          </a:p>
        </p:txBody>
      </p:sp>
      <p:sp>
        <p:nvSpPr>
          <p:cNvPr id="8" name="Freeform 8"/>
          <p:cNvSpPr/>
          <p:nvPr/>
        </p:nvSpPr>
        <p:spPr>
          <a:xfrm>
            <a:off x="9574518" y="4044041"/>
            <a:ext cx="4104248" cy="4104248"/>
          </a:xfrm>
          <a:custGeom>
            <a:avLst/>
            <a:gdLst/>
            <a:ahLst/>
            <a:cxnLst/>
            <a:rect l="l" t="t" r="r" b="b"/>
            <a:pathLst>
              <a:path w="4104248" h="4104248">
                <a:moveTo>
                  <a:pt x="0" y="0"/>
                </a:moveTo>
                <a:lnTo>
                  <a:pt x="4104248" y="0"/>
                </a:lnTo>
                <a:lnTo>
                  <a:pt x="4104248" y="4104248"/>
                </a:lnTo>
                <a:lnTo>
                  <a:pt x="0" y="4104248"/>
                </a:lnTo>
                <a:lnTo>
                  <a:pt x="0" y="0"/>
                </a:lnTo>
                <a:close/>
              </a:path>
            </a:pathLst>
          </a:custGeom>
          <a:blipFill>
            <a:blip r:embed="rId4"/>
            <a:stretch>
              <a:fillRect/>
            </a:stretch>
          </a:blipFill>
        </p:spPr>
        <p:txBody>
          <a:bodyPr/>
          <a:lstStyle/>
          <a:p>
            <a:endParaRPr lang="bg-BG"/>
          </a:p>
        </p:txBody>
      </p:sp>
      <p:sp>
        <p:nvSpPr>
          <p:cNvPr id="9" name="Freeform 9"/>
          <p:cNvSpPr/>
          <p:nvPr/>
        </p:nvSpPr>
        <p:spPr>
          <a:xfrm>
            <a:off x="4974970" y="4044041"/>
            <a:ext cx="4104248" cy="4104248"/>
          </a:xfrm>
          <a:custGeom>
            <a:avLst/>
            <a:gdLst/>
            <a:ahLst/>
            <a:cxnLst/>
            <a:rect l="l" t="t" r="r" b="b"/>
            <a:pathLst>
              <a:path w="4104248" h="4104248">
                <a:moveTo>
                  <a:pt x="0" y="0"/>
                </a:moveTo>
                <a:lnTo>
                  <a:pt x="4104248" y="0"/>
                </a:lnTo>
                <a:lnTo>
                  <a:pt x="4104248" y="4104248"/>
                </a:lnTo>
                <a:lnTo>
                  <a:pt x="0" y="4104248"/>
                </a:lnTo>
                <a:lnTo>
                  <a:pt x="0" y="0"/>
                </a:lnTo>
                <a:close/>
              </a:path>
            </a:pathLst>
          </a:custGeom>
          <a:blipFill>
            <a:blip r:embed="rId5"/>
            <a:stretch>
              <a:fillRect/>
            </a:stretch>
          </a:blipFill>
        </p:spPr>
        <p:txBody>
          <a:bodyPr/>
          <a:lstStyle/>
          <a:p>
            <a:endParaRPr lang="bg-BG"/>
          </a:p>
        </p:txBody>
      </p:sp>
      <p:sp>
        <p:nvSpPr>
          <p:cNvPr id="10" name="Freeform 10"/>
          <p:cNvSpPr/>
          <p:nvPr/>
        </p:nvSpPr>
        <p:spPr>
          <a:xfrm>
            <a:off x="378269" y="4044041"/>
            <a:ext cx="4104248" cy="4104248"/>
          </a:xfrm>
          <a:custGeom>
            <a:avLst/>
            <a:gdLst/>
            <a:ahLst/>
            <a:cxnLst/>
            <a:rect l="l" t="t" r="r" b="b"/>
            <a:pathLst>
              <a:path w="4104248" h="4104248">
                <a:moveTo>
                  <a:pt x="0" y="0"/>
                </a:moveTo>
                <a:lnTo>
                  <a:pt x="4104248" y="0"/>
                </a:lnTo>
                <a:lnTo>
                  <a:pt x="4104248" y="4104248"/>
                </a:lnTo>
                <a:lnTo>
                  <a:pt x="0" y="4104248"/>
                </a:lnTo>
                <a:lnTo>
                  <a:pt x="0" y="0"/>
                </a:lnTo>
                <a:close/>
              </a:path>
            </a:pathLst>
          </a:custGeom>
          <a:blipFill>
            <a:blip r:embed="rId6"/>
            <a:stretch>
              <a:fillRect/>
            </a:stretch>
          </a:blipFill>
        </p:spPr>
        <p:txBody>
          <a:bodyPr/>
          <a:lstStyle/>
          <a:p>
            <a:endParaRPr lang="bg-BG"/>
          </a:p>
        </p:txBody>
      </p:sp>
      <p:sp>
        <p:nvSpPr>
          <p:cNvPr id="11" name="Freeform 11"/>
          <p:cNvSpPr/>
          <p:nvPr/>
        </p:nvSpPr>
        <p:spPr>
          <a:xfrm>
            <a:off x="14174066" y="4044041"/>
            <a:ext cx="4061643" cy="4061643"/>
          </a:xfrm>
          <a:custGeom>
            <a:avLst/>
            <a:gdLst/>
            <a:ahLst/>
            <a:cxnLst/>
            <a:rect l="l" t="t" r="r" b="b"/>
            <a:pathLst>
              <a:path w="4061643" h="4061643">
                <a:moveTo>
                  <a:pt x="0" y="0"/>
                </a:moveTo>
                <a:lnTo>
                  <a:pt x="4061642" y="0"/>
                </a:lnTo>
                <a:lnTo>
                  <a:pt x="4061642" y="4061642"/>
                </a:lnTo>
                <a:lnTo>
                  <a:pt x="0" y="4061642"/>
                </a:lnTo>
                <a:lnTo>
                  <a:pt x="0" y="0"/>
                </a:lnTo>
                <a:close/>
              </a:path>
            </a:pathLst>
          </a:custGeom>
          <a:blipFill>
            <a:blip r:embed="rId7"/>
            <a:stretch>
              <a:fillRect/>
            </a:stretch>
          </a:blipFill>
        </p:spPr>
        <p:txBody>
          <a:bodyPr/>
          <a:lstStyle/>
          <a:p>
            <a:endParaRPr lang="bg-BG"/>
          </a:p>
        </p:txBody>
      </p:sp>
      <p:sp>
        <p:nvSpPr>
          <p:cNvPr id="12" name="TextBox 12"/>
          <p:cNvSpPr txBox="1"/>
          <p:nvPr/>
        </p:nvSpPr>
        <p:spPr>
          <a:xfrm>
            <a:off x="12090967" y="1044012"/>
            <a:ext cx="6706605" cy="1692220"/>
          </a:xfrm>
          <a:prstGeom prst="rect">
            <a:avLst/>
          </a:prstGeom>
        </p:spPr>
        <p:txBody>
          <a:bodyPr lIns="0" tIns="0" rIns="0" bIns="0" rtlCol="0" anchor="t">
            <a:spAutoFit/>
          </a:bodyPr>
          <a:lstStyle/>
          <a:p>
            <a:pPr algn="l">
              <a:lnSpc>
                <a:spcPts val="11006"/>
              </a:lnSpc>
            </a:pPr>
            <a:r>
              <a:rPr lang="en-US" sz="16675" b="1" spc="-817">
                <a:solidFill>
                  <a:srgbClr val="FFFFFF"/>
                </a:solidFill>
                <a:latin typeface="TS Damas Sans Bold"/>
                <a:ea typeface="TS Damas Sans Bold"/>
                <a:cs typeface="TS Damas Sans Bold"/>
                <a:sym typeface="TS Damas Sans Bold"/>
              </a:rPr>
              <a:t>TEAM</a:t>
            </a:r>
          </a:p>
        </p:txBody>
      </p:sp>
      <p:sp>
        <p:nvSpPr>
          <p:cNvPr id="13" name="TextBox 13"/>
          <p:cNvSpPr txBox="1"/>
          <p:nvPr/>
        </p:nvSpPr>
        <p:spPr>
          <a:xfrm>
            <a:off x="8785994" y="1044012"/>
            <a:ext cx="6166274" cy="1692220"/>
          </a:xfrm>
          <a:prstGeom prst="rect">
            <a:avLst/>
          </a:prstGeom>
        </p:spPr>
        <p:txBody>
          <a:bodyPr lIns="0" tIns="0" rIns="0" bIns="0" rtlCol="0" anchor="t">
            <a:spAutoFit/>
          </a:bodyPr>
          <a:lstStyle/>
          <a:p>
            <a:pPr algn="l">
              <a:lnSpc>
                <a:spcPts val="11006"/>
              </a:lnSpc>
            </a:pPr>
            <a:r>
              <a:rPr lang="en-US" sz="16675" b="1" spc="-817">
                <a:solidFill>
                  <a:srgbClr val="D40019"/>
                </a:solidFill>
                <a:latin typeface="TS Damas Sans Bold"/>
                <a:ea typeface="TS Damas Sans Bold"/>
                <a:cs typeface="TS Damas Sans Bold"/>
                <a:sym typeface="TS Damas Sans Bold"/>
              </a:rPr>
              <a:t>OUR</a:t>
            </a:r>
          </a:p>
        </p:txBody>
      </p:sp>
      <p:sp>
        <p:nvSpPr>
          <p:cNvPr id="14" name="TextBox 14"/>
          <p:cNvSpPr txBox="1"/>
          <p:nvPr/>
        </p:nvSpPr>
        <p:spPr>
          <a:xfrm>
            <a:off x="9766312" y="8494208"/>
            <a:ext cx="4109372" cy="378313"/>
          </a:xfrm>
          <a:prstGeom prst="rect">
            <a:avLst/>
          </a:prstGeom>
        </p:spPr>
        <p:txBody>
          <a:bodyPr lIns="0" tIns="0" rIns="0" bIns="0" rtlCol="0" anchor="t">
            <a:spAutoFit/>
          </a:bodyPr>
          <a:lstStyle/>
          <a:p>
            <a:pPr marL="0" lvl="0" indent="0" algn="l">
              <a:lnSpc>
                <a:spcPts val="2993"/>
              </a:lnSpc>
              <a:spcBef>
                <a:spcPct val="0"/>
              </a:spcBef>
            </a:pPr>
            <a:r>
              <a:rPr lang="en-US" sz="2850" b="1" spc="273">
                <a:solidFill>
                  <a:srgbClr val="FFFFFF"/>
                </a:solidFill>
                <a:latin typeface="TT Hoves Bold"/>
                <a:ea typeface="TT Hoves Bold"/>
                <a:cs typeface="TT Hoves Bold"/>
                <a:sym typeface="TT Hoves Bold"/>
              </a:rPr>
              <a:t>TODOR NESHEV</a:t>
            </a:r>
          </a:p>
        </p:txBody>
      </p:sp>
      <p:sp>
        <p:nvSpPr>
          <p:cNvPr id="15" name="TextBox 15"/>
          <p:cNvSpPr txBox="1"/>
          <p:nvPr/>
        </p:nvSpPr>
        <p:spPr>
          <a:xfrm>
            <a:off x="481803" y="9117798"/>
            <a:ext cx="4109372" cy="309579"/>
          </a:xfrm>
          <a:prstGeom prst="rect">
            <a:avLst/>
          </a:prstGeom>
        </p:spPr>
        <p:txBody>
          <a:bodyPr lIns="0" tIns="0" rIns="0" bIns="0" rtlCol="0" anchor="t">
            <a:spAutoFit/>
          </a:bodyPr>
          <a:lstStyle/>
          <a:p>
            <a:pPr algn="l">
              <a:lnSpc>
                <a:spcPts val="2363"/>
              </a:lnSpc>
            </a:pPr>
            <a:r>
              <a:rPr lang="en-US" sz="2250" spc="216">
                <a:solidFill>
                  <a:srgbClr val="FFFFFF"/>
                </a:solidFill>
                <a:latin typeface="TT Hoves"/>
                <a:ea typeface="TT Hoves"/>
                <a:cs typeface="TT Hoves"/>
                <a:sym typeface="TT Hoves"/>
              </a:rPr>
              <a:t>SCRUM TRAINER</a:t>
            </a:r>
          </a:p>
        </p:txBody>
      </p:sp>
      <p:sp>
        <p:nvSpPr>
          <p:cNvPr id="16" name="TextBox 16"/>
          <p:cNvSpPr txBox="1"/>
          <p:nvPr/>
        </p:nvSpPr>
        <p:spPr>
          <a:xfrm>
            <a:off x="481803" y="8494208"/>
            <a:ext cx="4109372" cy="378313"/>
          </a:xfrm>
          <a:prstGeom prst="rect">
            <a:avLst/>
          </a:prstGeom>
        </p:spPr>
        <p:txBody>
          <a:bodyPr lIns="0" tIns="0" rIns="0" bIns="0" rtlCol="0" anchor="t">
            <a:spAutoFit/>
          </a:bodyPr>
          <a:lstStyle/>
          <a:p>
            <a:pPr marL="0" lvl="0" indent="0" algn="l">
              <a:lnSpc>
                <a:spcPts val="2993"/>
              </a:lnSpc>
              <a:spcBef>
                <a:spcPct val="0"/>
              </a:spcBef>
            </a:pPr>
            <a:r>
              <a:rPr lang="en-US" sz="2850" b="1" spc="273">
                <a:solidFill>
                  <a:srgbClr val="FFFFFF"/>
                </a:solidFill>
                <a:latin typeface="TT Hoves Bold"/>
                <a:ea typeface="TT Hoves Bold"/>
                <a:cs typeface="TT Hoves Bold"/>
                <a:sym typeface="TT Hoves Bold"/>
              </a:rPr>
              <a:t>DIMANA FOTEVA</a:t>
            </a:r>
          </a:p>
        </p:txBody>
      </p:sp>
      <p:sp>
        <p:nvSpPr>
          <p:cNvPr id="17" name="TextBox 17"/>
          <p:cNvSpPr txBox="1"/>
          <p:nvPr/>
        </p:nvSpPr>
        <p:spPr>
          <a:xfrm>
            <a:off x="4802984" y="9148746"/>
            <a:ext cx="4109372" cy="309579"/>
          </a:xfrm>
          <a:prstGeom prst="rect">
            <a:avLst/>
          </a:prstGeom>
        </p:spPr>
        <p:txBody>
          <a:bodyPr lIns="0" tIns="0" rIns="0" bIns="0" rtlCol="0" anchor="t">
            <a:spAutoFit/>
          </a:bodyPr>
          <a:lstStyle/>
          <a:p>
            <a:pPr marL="0" lvl="0" indent="0" algn="l">
              <a:lnSpc>
                <a:spcPts val="2363"/>
              </a:lnSpc>
              <a:spcBef>
                <a:spcPct val="0"/>
              </a:spcBef>
            </a:pPr>
            <a:r>
              <a:rPr lang="en-US" sz="2250" spc="216">
                <a:solidFill>
                  <a:srgbClr val="FFFFFF"/>
                </a:solidFill>
                <a:latin typeface="TT Hoves"/>
                <a:ea typeface="TT Hoves"/>
                <a:cs typeface="TT Hoves"/>
                <a:sym typeface="TT Hoves"/>
              </a:rPr>
              <a:t>BACK-END DEVELOPER</a:t>
            </a:r>
          </a:p>
        </p:txBody>
      </p:sp>
      <p:sp>
        <p:nvSpPr>
          <p:cNvPr id="18" name="TextBox 18"/>
          <p:cNvSpPr txBox="1"/>
          <p:nvPr/>
        </p:nvSpPr>
        <p:spPr>
          <a:xfrm>
            <a:off x="14409173" y="8453412"/>
            <a:ext cx="4109372" cy="378313"/>
          </a:xfrm>
          <a:prstGeom prst="rect">
            <a:avLst/>
          </a:prstGeom>
        </p:spPr>
        <p:txBody>
          <a:bodyPr lIns="0" tIns="0" rIns="0" bIns="0" rtlCol="0" anchor="t">
            <a:spAutoFit/>
          </a:bodyPr>
          <a:lstStyle/>
          <a:p>
            <a:pPr marL="0" lvl="0" indent="0" algn="l">
              <a:lnSpc>
                <a:spcPts val="2993"/>
              </a:lnSpc>
              <a:spcBef>
                <a:spcPct val="0"/>
              </a:spcBef>
            </a:pPr>
            <a:r>
              <a:rPr lang="en-US" sz="2850" b="1" spc="273">
                <a:solidFill>
                  <a:srgbClr val="FFFFFF"/>
                </a:solidFill>
                <a:latin typeface="TT Hoves Bold"/>
                <a:ea typeface="TT Hoves Bold"/>
                <a:cs typeface="TT Hoves Bold"/>
                <a:sym typeface="TT Hoves Bold"/>
              </a:rPr>
              <a:t>VILIAN IVANOV</a:t>
            </a:r>
          </a:p>
        </p:txBody>
      </p:sp>
      <p:sp>
        <p:nvSpPr>
          <p:cNvPr id="19" name="TextBox 19"/>
          <p:cNvSpPr txBox="1"/>
          <p:nvPr/>
        </p:nvSpPr>
        <p:spPr>
          <a:xfrm>
            <a:off x="4850024" y="8424514"/>
            <a:ext cx="4750306" cy="378313"/>
          </a:xfrm>
          <a:prstGeom prst="rect">
            <a:avLst/>
          </a:prstGeom>
        </p:spPr>
        <p:txBody>
          <a:bodyPr lIns="0" tIns="0" rIns="0" bIns="0" rtlCol="0" anchor="t">
            <a:spAutoFit/>
          </a:bodyPr>
          <a:lstStyle/>
          <a:p>
            <a:pPr marL="0" lvl="0" indent="0" algn="l">
              <a:lnSpc>
                <a:spcPts val="2993"/>
              </a:lnSpc>
              <a:spcBef>
                <a:spcPct val="0"/>
              </a:spcBef>
            </a:pPr>
            <a:r>
              <a:rPr lang="en-US" sz="2850" b="1" spc="273" dirty="0">
                <a:solidFill>
                  <a:srgbClr val="FFFFFF"/>
                </a:solidFill>
                <a:latin typeface="TT Hoves Bold"/>
                <a:ea typeface="TT Hoves Bold"/>
                <a:cs typeface="TT Hoves Bold"/>
                <a:sym typeface="TT Hoves Bold"/>
              </a:rPr>
              <a:t>MARIELA APOSTOLOVA</a:t>
            </a:r>
          </a:p>
        </p:txBody>
      </p:sp>
      <p:sp>
        <p:nvSpPr>
          <p:cNvPr id="20" name="TextBox 20"/>
          <p:cNvSpPr txBox="1"/>
          <p:nvPr/>
        </p:nvSpPr>
        <p:spPr>
          <a:xfrm>
            <a:off x="14178628" y="9117798"/>
            <a:ext cx="4109372" cy="309579"/>
          </a:xfrm>
          <a:prstGeom prst="rect">
            <a:avLst/>
          </a:prstGeom>
        </p:spPr>
        <p:txBody>
          <a:bodyPr lIns="0" tIns="0" rIns="0" bIns="0" rtlCol="0" anchor="t">
            <a:spAutoFit/>
          </a:bodyPr>
          <a:lstStyle/>
          <a:p>
            <a:pPr marL="0" lvl="0" indent="0" algn="l">
              <a:lnSpc>
                <a:spcPts val="2363"/>
              </a:lnSpc>
              <a:spcBef>
                <a:spcPct val="0"/>
              </a:spcBef>
            </a:pPr>
            <a:r>
              <a:rPr lang="en-US" sz="2250" spc="216">
                <a:solidFill>
                  <a:srgbClr val="FFFFFF"/>
                </a:solidFill>
                <a:latin typeface="TT Hoves"/>
                <a:ea typeface="TT Hoves"/>
                <a:cs typeface="TT Hoves"/>
                <a:sym typeface="TT Hoves"/>
              </a:rPr>
              <a:t>FRONT-END DEVELOPER</a:t>
            </a:r>
          </a:p>
        </p:txBody>
      </p:sp>
      <p:sp>
        <p:nvSpPr>
          <p:cNvPr id="21" name="TextBox 21"/>
          <p:cNvSpPr txBox="1"/>
          <p:nvPr/>
        </p:nvSpPr>
        <p:spPr>
          <a:xfrm>
            <a:off x="9859905" y="9117798"/>
            <a:ext cx="4109372" cy="309579"/>
          </a:xfrm>
          <a:prstGeom prst="rect">
            <a:avLst/>
          </a:prstGeom>
        </p:spPr>
        <p:txBody>
          <a:bodyPr lIns="0" tIns="0" rIns="0" bIns="0" rtlCol="0" anchor="t">
            <a:spAutoFit/>
          </a:bodyPr>
          <a:lstStyle/>
          <a:p>
            <a:pPr marL="0" lvl="0" indent="0" algn="l">
              <a:lnSpc>
                <a:spcPts val="2363"/>
              </a:lnSpc>
              <a:spcBef>
                <a:spcPct val="0"/>
              </a:spcBef>
            </a:pPr>
            <a:r>
              <a:rPr lang="en-US" sz="2250" spc="216" dirty="0">
                <a:solidFill>
                  <a:srgbClr val="FFFFFF"/>
                </a:solidFill>
                <a:latin typeface="TT Hoves"/>
                <a:ea typeface="TT Hoves"/>
                <a:cs typeface="TT Hoves"/>
                <a:sym typeface="TT Hoves"/>
              </a:rPr>
              <a:t>DESIGNER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881" b="-70951"/>
            </a:stretch>
          </a:blipFill>
        </p:spPr>
        <p:txBody>
          <a:bodyPr/>
          <a:lstStyle/>
          <a:p>
            <a:endParaRPr lang="bg-BG"/>
          </a:p>
        </p:txBody>
      </p:sp>
      <p:grpSp>
        <p:nvGrpSpPr>
          <p:cNvPr id="3" name="Group 3"/>
          <p:cNvGrpSpPr/>
          <p:nvPr/>
        </p:nvGrpSpPr>
        <p:grpSpPr>
          <a:xfrm>
            <a:off x="-1829" y="-132781"/>
            <a:ext cx="18289829" cy="5738026"/>
            <a:chOff x="0" y="0"/>
            <a:chExt cx="4817074" cy="1511250"/>
          </a:xfrm>
        </p:grpSpPr>
        <p:sp>
          <p:nvSpPr>
            <p:cNvPr id="4" name="Freeform 4"/>
            <p:cNvSpPr/>
            <p:nvPr/>
          </p:nvSpPr>
          <p:spPr>
            <a:xfrm>
              <a:off x="0" y="0"/>
              <a:ext cx="4817074" cy="1511250"/>
            </a:xfrm>
            <a:custGeom>
              <a:avLst/>
              <a:gdLst/>
              <a:ahLst/>
              <a:cxnLst/>
              <a:rect l="l" t="t" r="r" b="b"/>
              <a:pathLst>
                <a:path w="4817074" h="1511250">
                  <a:moveTo>
                    <a:pt x="0" y="0"/>
                  </a:moveTo>
                  <a:lnTo>
                    <a:pt x="4817074" y="0"/>
                  </a:lnTo>
                  <a:lnTo>
                    <a:pt x="4817074" y="1511250"/>
                  </a:lnTo>
                  <a:lnTo>
                    <a:pt x="0" y="1511250"/>
                  </a:lnTo>
                  <a:close/>
                </a:path>
              </a:pathLst>
            </a:custGeom>
            <a:gradFill rotWithShape="1">
              <a:gsLst>
                <a:gs pos="0">
                  <a:srgbClr val="000000">
                    <a:alpha val="100000"/>
                  </a:srgbClr>
                </a:gs>
                <a:gs pos="100000">
                  <a:srgbClr val="000000">
                    <a:alpha val="0"/>
                  </a:srgbClr>
                </a:gs>
              </a:gsLst>
              <a:lin ang="5400000"/>
            </a:gradFill>
          </p:spPr>
          <p:txBody>
            <a:bodyPr/>
            <a:lstStyle/>
            <a:p>
              <a:endParaRPr lang="bg-BG"/>
            </a:p>
          </p:txBody>
        </p:sp>
        <p:sp>
          <p:nvSpPr>
            <p:cNvPr id="5" name="TextBox 5"/>
            <p:cNvSpPr txBox="1"/>
            <p:nvPr/>
          </p:nvSpPr>
          <p:spPr>
            <a:xfrm>
              <a:off x="0" y="-38100"/>
              <a:ext cx="4817074" cy="154935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532269" y="3591394"/>
            <a:ext cx="7032277" cy="7871952"/>
          </a:xfrm>
          <a:custGeom>
            <a:avLst/>
            <a:gdLst/>
            <a:ahLst/>
            <a:cxnLst/>
            <a:rect l="l" t="t" r="r" b="b"/>
            <a:pathLst>
              <a:path w="7032277" h="7871952">
                <a:moveTo>
                  <a:pt x="0" y="0"/>
                </a:moveTo>
                <a:lnTo>
                  <a:pt x="7032277" y="0"/>
                </a:lnTo>
                <a:lnTo>
                  <a:pt x="7032277" y="7871951"/>
                </a:lnTo>
                <a:lnTo>
                  <a:pt x="0" y="7871951"/>
                </a:lnTo>
                <a:lnTo>
                  <a:pt x="0" y="0"/>
                </a:lnTo>
                <a:close/>
              </a:path>
            </a:pathLst>
          </a:custGeom>
          <a:blipFill>
            <a:blip r:embed="rId3"/>
            <a:stretch>
              <a:fillRect/>
            </a:stretch>
          </a:blipFill>
        </p:spPr>
        <p:txBody>
          <a:bodyPr/>
          <a:lstStyle/>
          <a:p>
            <a:endParaRPr lang="bg-BG"/>
          </a:p>
        </p:txBody>
      </p:sp>
      <p:sp>
        <p:nvSpPr>
          <p:cNvPr id="7" name="TextBox 7"/>
          <p:cNvSpPr txBox="1"/>
          <p:nvPr/>
        </p:nvSpPr>
        <p:spPr>
          <a:xfrm>
            <a:off x="6835995" y="7744973"/>
            <a:ext cx="10423305" cy="1760284"/>
          </a:xfrm>
          <a:prstGeom prst="rect">
            <a:avLst/>
          </a:prstGeom>
        </p:spPr>
        <p:txBody>
          <a:bodyPr lIns="0" tIns="0" rIns="0" bIns="0" rtlCol="0" anchor="t">
            <a:spAutoFit/>
          </a:bodyPr>
          <a:lstStyle/>
          <a:p>
            <a:pPr algn="r">
              <a:lnSpc>
                <a:spcPts val="11562"/>
              </a:lnSpc>
            </a:pPr>
            <a:r>
              <a:rPr lang="en-US" sz="17518" b="1" spc="-858">
                <a:solidFill>
                  <a:srgbClr val="FFFFFF"/>
                </a:solidFill>
                <a:latin typeface="TS Damas Sans Bold"/>
                <a:ea typeface="TS Damas Sans Bold"/>
                <a:cs typeface="TS Damas Sans Bold"/>
                <a:sym typeface="TS Damas Sans Bold"/>
              </a:rPr>
              <a:t>OUR PROJECT</a:t>
            </a:r>
          </a:p>
        </p:txBody>
      </p:sp>
      <p:sp>
        <p:nvSpPr>
          <p:cNvPr id="8" name="AutoShape 8"/>
          <p:cNvSpPr/>
          <p:nvPr/>
        </p:nvSpPr>
        <p:spPr>
          <a:xfrm>
            <a:off x="8814090" y="4502375"/>
            <a:ext cx="8445210" cy="0"/>
          </a:xfrm>
          <a:prstGeom prst="line">
            <a:avLst/>
          </a:prstGeom>
          <a:ln w="9525" cap="flat">
            <a:solidFill>
              <a:srgbClr val="FFFFFF"/>
            </a:solidFill>
            <a:prstDash val="solid"/>
            <a:headEnd type="none" w="sm" len="sm"/>
            <a:tailEnd type="none" w="sm" len="sm"/>
          </a:ln>
        </p:spPr>
        <p:txBody>
          <a:bodyPr/>
          <a:lstStyle/>
          <a:p>
            <a:endParaRPr lang="bg-BG"/>
          </a:p>
        </p:txBody>
      </p:sp>
      <p:sp>
        <p:nvSpPr>
          <p:cNvPr id="9" name="TextBox 9"/>
          <p:cNvSpPr txBox="1"/>
          <p:nvPr/>
        </p:nvSpPr>
        <p:spPr>
          <a:xfrm>
            <a:off x="10219500" y="6048375"/>
            <a:ext cx="7039800" cy="1760284"/>
          </a:xfrm>
          <a:prstGeom prst="rect">
            <a:avLst/>
          </a:prstGeom>
        </p:spPr>
        <p:txBody>
          <a:bodyPr lIns="0" tIns="0" rIns="0" bIns="0" rtlCol="0" anchor="t">
            <a:spAutoFit/>
          </a:bodyPr>
          <a:lstStyle/>
          <a:p>
            <a:pPr algn="r">
              <a:lnSpc>
                <a:spcPts val="11562"/>
              </a:lnSpc>
            </a:pPr>
            <a:r>
              <a:rPr lang="en-US" sz="17518" b="1" spc="-858">
                <a:solidFill>
                  <a:srgbClr val="D40019"/>
                </a:solidFill>
                <a:latin typeface="TS Damas Sans Bold"/>
                <a:ea typeface="TS Damas Sans Bold"/>
                <a:cs typeface="TS Damas Sans Bold"/>
                <a:sym typeface="TS Damas Sans Bold"/>
              </a:rPr>
              <a:t>ABOUT</a:t>
            </a:r>
          </a:p>
        </p:txBody>
      </p:sp>
      <p:sp>
        <p:nvSpPr>
          <p:cNvPr id="10" name="TextBox 10"/>
          <p:cNvSpPr txBox="1"/>
          <p:nvPr/>
        </p:nvSpPr>
        <p:spPr>
          <a:xfrm>
            <a:off x="532269" y="452788"/>
            <a:ext cx="17398689" cy="3406650"/>
          </a:xfrm>
          <a:prstGeom prst="rect">
            <a:avLst/>
          </a:prstGeom>
        </p:spPr>
        <p:txBody>
          <a:bodyPr lIns="0" tIns="0" rIns="0" bIns="0" rtlCol="0" anchor="t">
            <a:spAutoFit/>
          </a:bodyPr>
          <a:lstStyle/>
          <a:p>
            <a:pPr algn="l">
              <a:lnSpc>
                <a:spcPts val="5431"/>
              </a:lnSpc>
              <a:spcBef>
                <a:spcPct val="0"/>
              </a:spcBef>
            </a:pPr>
            <a:r>
              <a:rPr lang="en-US" sz="3879">
                <a:solidFill>
                  <a:srgbClr val="FFFFFF"/>
                </a:solidFill>
                <a:latin typeface="TT Hoves"/>
                <a:ea typeface="TT Hoves"/>
                <a:cs typeface="TT Hoves"/>
                <a:sym typeface="TT Hoves"/>
              </a:rPr>
              <a:t>Elevate is a movie-sorting application designed to help users organize and discover films with ease. By providing intelligent sorting capabilities, Elevate simplifies the movie discovery process, allowing users to find exactly what they're looking for—whether browsing by genre, rating, release date, or other criteria.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881" b="-70951"/>
            </a:stretch>
          </a:blipFill>
        </p:spPr>
        <p:txBody>
          <a:bodyPr/>
          <a:lstStyle/>
          <a:p>
            <a:endParaRPr lang="bg-BG"/>
          </a:p>
        </p:txBody>
      </p:sp>
      <p:grpSp>
        <p:nvGrpSpPr>
          <p:cNvPr id="3" name="Group 3"/>
          <p:cNvGrpSpPr/>
          <p:nvPr/>
        </p:nvGrpSpPr>
        <p:grpSpPr>
          <a:xfrm>
            <a:off x="-1829" y="0"/>
            <a:ext cx="18289829" cy="5738026"/>
            <a:chOff x="0" y="0"/>
            <a:chExt cx="4817074" cy="1511250"/>
          </a:xfrm>
        </p:grpSpPr>
        <p:sp>
          <p:nvSpPr>
            <p:cNvPr id="4" name="Freeform 4"/>
            <p:cNvSpPr/>
            <p:nvPr/>
          </p:nvSpPr>
          <p:spPr>
            <a:xfrm>
              <a:off x="0" y="0"/>
              <a:ext cx="4817074" cy="1511250"/>
            </a:xfrm>
            <a:custGeom>
              <a:avLst/>
              <a:gdLst/>
              <a:ahLst/>
              <a:cxnLst/>
              <a:rect l="l" t="t" r="r" b="b"/>
              <a:pathLst>
                <a:path w="4817074" h="1511250">
                  <a:moveTo>
                    <a:pt x="0" y="0"/>
                  </a:moveTo>
                  <a:lnTo>
                    <a:pt x="4817074" y="0"/>
                  </a:lnTo>
                  <a:lnTo>
                    <a:pt x="4817074" y="1511250"/>
                  </a:lnTo>
                  <a:lnTo>
                    <a:pt x="0" y="1511250"/>
                  </a:lnTo>
                  <a:close/>
                </a:path>
              </a:pathLst>
            </a:custGeom>
            <a:gradFill rotWithShape="1">
              <a:gsLst>
                <a:gs pos="0">
                  <a:srgbClr val="000000">
                    <a:alpha val="100000"/>
                  </a:srgbClr>
                </a:gs>
                <a:gs pos="100000">
                  <a:srgbClr val="000000">
                    <a:alpha val="0"/>
                  </a:srgbClr>
                </a:gs>
              </a:gsLst>
              <a:lin ang="5400000"/>
            </a:gradFill>
          </p:spPr>
          <p:txBody>
            <a:bodyPr/>
            <a:lstStyle/>
            <a:p>
              <a:endParaRPr lang="bg-BG"/>
            </a:p>
          </p:txBody>
        </p:sp>
        <p:sp>
          <p:nvSpPr>
            <p:cNvPr id="5" name="TextBox 5"/>
            <p:cNvSpPr txBox="1"/>
            <p:nvPr/>
          </p:nvSpPr>
          <p:spPr>
            <a:xfrm>
              <a:off x="0" y="-38100"/>
              <a:ext cx="4817074" cy="154935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rot="-367714">
            <a:off x="10204041" y="2321903"/>
            <a:ext cx="10887768" cy="3283343"/>
          </a:xfrm>
          <a:custGeom>
            <a:avLst/>
            <a:gdLst/>
            <a:ahLst/>
            <a:cxnLst/>
            <a:rect l="l" t="t" r="r" b="b"/>
            <a:pathLst>
              <a:path w="10887768" h="3283343">
                <a:moveTo>
                  <a:pt x="0" y="0"/>
                </a:moveTo>
                <a:lnTo>
                  <a:pt x="10887768" y="0"/>
                </a:lnTo>
                <a:lnTo>
                  <a:pt x="10887768" y="3283342"/>
                </a:lnTo>
                <a:lnTo>
                  <a:pt x="0" y="3283342"/>
                </a:lnTo>
                <a:lnTo>
                  <a:pt x="0" y="0"/>
                </a:lnTo>
                <a:close/>
              </a:path>
            </a:pathLst>
          </a:custGeom>
          <a:blipFill>
            <a:blip r:embed="rId3"/>
            <a:stretch>
              <a:fillRect/>
            </a:stretch>
          </a:blipFill>
        </p:spPr>
        <p:txBody>
          <a:bodyPr/>
          <a:lstStyle/>
          <a:p>
            <a:endParaRPr lang="bg-BG"/>
          </a:p>
        </p:txBody>
      </p:sp>
      <p:sp>
        <p:nvSpPr>
          <p:cNvPr id="7" name="TextBox 7"/>
          <p:cNvSpPr txBox="1"/>
          <p:nvPr/>
        </p:nvSpPr>
        <p:spPr>
          <a:xfrm>
            <a:off x="3560777" y="2969248"/>
            <a:ext cx="11166446" cy="4880360"/>
          </a:xfrm>
          <a:prstGeom prst="rect">
            <a:avLst/>
          </a:prstGeom>
        </p:spPr>
        <p:txBody>
          <a:bodyPr lIns="0" tIns="0" rIns="0" bIns="0" rtlCol="0" anchor="t">
            <a:spAutoFit/>
          </a:bodyPr>
          <a:lstStyle/>
          <a:p>
            <a:pPr algn="l">
              <a:lnSpc>
                <a:spcPts val="11999"/>
              </a:lnSpc>
            </a:pPr>
            <a:r>
              <a:rPr lang="en-US" sz="18180" b="1" spc="-890">
                <a:solidFill>
                  <a:srgbClr val="D40019"/>
                </a:solidFill>
                <a:latin typeface="TS Damas Sans Bold"/>
                <a:ea typeface="TS Damas Sans Bold"/>
                <a:cs typeface="TS Damas Sans Bold"/>
                <a:sym typeface="TS Damas Sans Bold"/>
              </a:rPr>
              <a:t>TECHNOLOGIES</a:t>
            </a:r>
          </a:p>
          <a:p>
            <a:pPr algn="l">
              <a:lnSpc>
                <a:spcPts val="11999"/>
              </a:lnSpc>
            </a:pPr>
            <a:endParaRPr lang="en-US" sz="18180" b="1" spc="-890">
              <a:solidFill>
                <a:srgbClr val="D40019"/>
              </a:solidFill>
              <a:latin typeface="TS Damas Sans Bold"/>
              <a:ea typeface="TS Damas Sans Bold"/>
              <a:cs typeface="TS Damas Sans Bold"/>
              <a:sym typeface="TS Damas Sans Bold"/>
            </a:endParaRPr>
          </a:p>
          <a:p>
            <a:pPr algn="l">
              <a:lnSpc>
                <a:spcPts val="11999"/>
              </a:lnSpc>
            </a:pPr>
            <a:r>
              <a:rPr lang="en-US" sz="18180" b="1" spc="-890">
                <a:solidFill>
                  <a:srgbClr val="D40019"/>
                </a:solidFill>
                <a:latin typeface="TS Damas Sans Bold"/>
                <a:ea typeface="TS Damas Sans Bold"/>
                <a:cs typeface="TS Damas Sans Bold"/>
                <a:sym typeface="TS Damas Sans Bold"/>
              </a:rPr>
              <a:t>   WE   USED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881" b="-70951"/>
            </a:stretch>
          </a:blipFill>
        </p:spPr>
        <p:txBody>
          <a:bodyPr/>
          <a:lstStyle/>
          <a:p>
            <a:endParaRPr lang="bg-BG"/>
          </a:p>
        </p:txBody>
      </p:sp>
      <p:grpSp>
        <p:nvGrpSpPr>
          <p:cNvPr id="3" name="Group 3"/>
          <p:cNvGrpSpPr/>
          <p:nvPr/>
        </p:nvGrpSpPr>
        <p:grpSpPr>
          <a:xfrm>
            <a:off x="-1829" y="0"/>
            <a:ext cx="18289829" cy="5962353"/>
            <a:chOff x="0" y="0"/>
            <a:chExt cx="4817074" cy="1570332"/>
          </a:xfrm>
        </p:grpSpPr>
        <p:sp>
          <p:nvSpPr>
            <p:cNvPr id="4" name="Freeform 4"/>
            <p:cNvSpPr/>
            <p:nvPr/>
          </p:nvSpPr>
          <p:spPr>
            <a:xfrm>
              <a:off x="0" y="0"/>
              <a:ext cx="4817074" cy="1570332"/>
            </a:xfrm>
            <a:custGeom>
              <a:avLst/>
              <a:gdLst/>
              <a:ahLst/>
              <a:cxnLst/>
              <a:rect l="l" t="t" r="r" b="b"/>
              <a:pathLst>
                <a:path w="4817074" h="1570332">
                  <a:moveTo>
                    <a:pt x="0" y="0"/>
                  </a:moveTo>
                  <a:lnTo>
                    <a:pt x="4817074" y="0"/>
                  </a:lnTo>
                  <a:lnTo>
                    <a:pt x="4817074" y="1570332"/>
                  </a:lnTo>
                  <a:lnTo>
                    <a:pt x="0" y="1570332"/>
                  </a:lnTo>
                  <a:close/>
                </a:path>
              </a:pathLst>
            </a:custGeom>
            <a:gradFill rotWithShape="1">
              <a:gsLst>
                <a:gs pos="0">
                  <a:srgbClr val="000000">
                    <a:alpha val="100000"/>
                  </a:srgbClr>
                </a:gs>
                <a:gs pos="100000">
                  <a:srgbClr val="000000">
                    <a:alpha val="0"/>
                  </a:srgbClr>
                </a:gs>
              </a:gsLst>
              <a:lin ang="5400000"/>
            </a:gradFill>
          </p:spPr>
          <p:txBody>
            <a:bodyPr/>
            <a:lstStyle/>
            <a:p>
              <a:endParaRPr lang="bg-BG"/>
            </a:p>
          </p:txBody>
        </p:sp>
        <p:sp>
          <p:nvSpPr>
            <p:cNvPr id="5" name="TextBox 5"/>
            <p:cNvSpPr txBox="1"/>
            <p:nvPr/>
          </p:nvSpPr>
          <p:spPr>
            <a:xfrm>
              <a:off x="0" y="-38100"/>
              <a:ext cx="4817074" cy="160843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665467" y="4426015"/>
            <a:ext cx="4057989" cy="4466656"/>
          </a:xfrm>
          <a:custGeom>
            <a:avLst/>
            <a:gdLst/>
            <a:ahLst/>
            <a:cxnLst/>
            <a:rect l="l" t="t" r="r" b="b"/>
            <a:pathLst>
              <a:path w="4057989" h="4466656">
                <a:moveTo>
                  <a:pt x="0" y="0"/>
                </a:moveTo>
                <a:lnTo>
                  <a:pt x="4057989" y="0"/>
                </a:lnTo>
                <a:lnTo>
                  <a:pt x="4057989" y="4466656"/>
                </a:lnTo>
                <a:lnTo>
                  <a:pt x="0" y="4466656"/>
                </a:lnTo>
                <a:lnTo>
                  <a:pt x="0" y="0"/>
                </a:lnTo>
                <a:close/>
              </a:path>
            </a:pathLst>
          </a:custGeom>
          <a:blipFill>
            <a:blip r:embed="rId3"/>
            <a:stretch>
              <a:fillRect/>
            </a:stretch>
          </a:blipFill>
        </p:spPr>
        <p:txBody>
          <a:bodyPr/>
          <a:lstStyle/>
          <a:p>
            <a:endParaRPr lang="bg-BG"/>
          </a:p>
        </p:txBody>
      </p:sp>
      <p:sp>
        <p:nvSpPr>
          <p:cNvPr id="7" name="Freeform 7"/>
          <p:cNvSpPr/>
          <p:nvPr/>
        </p:nvSpPr>
        <p:spPr>
          <a:xfrm rot="832508" flipH="1">
            <a:off x="3694462" y="6659343"/>
            <a:ext cx="4057989" cy="4466656"/>
          </a:xfrm>
          <a:custGeom>
            <a:avLst/>
            <a:gdLst/>
            <a:ahLst/>
            <a:cxnLst/>
            <a:rect l="l" t="t" r="r" b="b"/>
            <a:pathLst>
              <a:path w="4057989" h="4466656">
                <a:moveTo>
                  <a:pt x="4057989" y="0"/>
                </a:moveTo>
                <a:lnTo>
                  <a:pt x="0" y="0"/>
                </a:lnTo>
                <a:lnTo>
                  <a:pt x="0" y="4466656"/>
                </a:lnTo>
                <a:lnTo>
                  <a:pt x="4057989" y="4466656"/>
                </a:lnTo>
                <a:lnTo>
                  <a:pt x="4057989" y="0"/>
                </a:lnTo>
                <a:close/>
              </a:path>
            </a:pathLst>
          </a:custGeom>
          <a:blipFill>
            <a:blip r:embed="rId3"/>
            <a:stretch>
              <a:fillRect/>
            </a:stretch>
          </a:blipFill>
        </p:spPr>
        <p:txBody>
          <a:bodyPr/>
          <a:lstStyle/>
          <a:p>
            <a:endParaRPr lang="bg-BG"/>
          </a:p>
        </p:txBody>
      </p:sp>
      <p:sp>
        <p:nvSpPr>
          <p:cNvPr id="8" name="Freeform 8"/>
          <p:cNvSpPr/>
          <p:nvPr/>
        </p:nvSpPr>
        <p:spPr>
          <a:xfrm>
            <a:off x="1190980" y="575929"/>
            <a:ext cx="2896672" cy="2909604"/>
          </a:xfrm>
          <a:custGeom>
            <a:avLst/>
            <a:gdLst/>
            <a:ahLst/>
            <a:cxnLst/>
            <a:rect l="l" t="t" r="r" b="b"/>
            <a:pathLst>
              <a:path w="2896672" h="2909604">
                <a:moveTo>
                  <a:pt x="0" y="0"/>
                </a:moveTo>
                <a:lnTo>
                  <a:pt x="2896672" y="0"/>
                </a:lnTo>
                <a:lnTo>
                  <a:pt x="2896672" y="2909604"/>
                </a:lnTo>
                <a:lnTo>
                  <a:pt x="0" y="2909604"/>
                </a:lnTo>
                <a:lnTo>
                  <a:pt x="0" y="0"/>
                </a:lnTo>
                <a:close/>
              </a:path>
            </a:pathLst>
          </a:custGeom>
          <a:blipFill>
            <a:blip r:embed="rId4"/>
            <a:stretch>
              <a:fillRect/>
            </a:stretch>
          </a:blipFill>
        </p:spPr>
        <p:txBody>
          <a:bodyPr/>
          <a:lstStyle/>
          <a:p>
            <a:endParaRPr lang="bg-BG"/>
          </a:p>
        </p:txBody>
      </p:sp>
      <p:sp>
        <p:nvSpPr>
          <p:cNvPr id="9" name="Freeform 9"/>
          <p:cNvSpPr/>
          <p:nvPr/>
        </p:nvSpPr>
        <p:spPr>
          <a:xfrm>
            <a:off x="5160567" y="664920"/>
            <a:ext cx="2909604" cy="2909604"/>
          </a:xfrm>
          <a:custGeom>
            <a:avLst/>
            <a:gdLst/>
            <a:ahLst/>
            <a:cxnLst/>
            <a:rect l="l" t="t" r="r" b="b"/>
            <a:pathLst>
              <a:path w="2909604" h="2909604">
                <a:moveTo>
                  <a:pt x="0" y="0"/>
                </a:moveTo>
                <a:lnTo>
                  <a:pt x="2909604" y="0"/>
                </a:lnTo>
                <a:lnTo>
                  <a:pt x="2909604" y="2909604"/>
                </a:lnTo>
                <a:lnTo>
                  <a:pt x="0" y="2909604"/>
                </a:lnTo>
                <a:lnTo>
                  <a:pt x="0" y="0"/>
                </a:lnTo>
                <a:close/>
              </a:path>
            </a:pathLst>
          </a:custGeom>
          <a:blipFill>
            <a:blip r:embed="rId5"/>
            <a:stretch>
              <a:fillRect/>
            </a:stretch>
          </a:blipFill>
        </p:spPr>
        <p:txBody>
          <a:bodyPr/>
          <a:lstStyle/>
          <a:p>
            <a:endParaRPr lang="bg-BG"/>
          </a:p>
        </p:txBody>
      </p:sp>
      <p:sp>
        <p:nvSpPr>
          <p:cNvPr id="10" name="Freeform 10"/>
          <p:cNvSpPr/>
          <p:nvPr/>
        </p:nvSpPr>
        <p:spPr>
          <a:xfrm>
            <a:off x="9143086" y="900330"/>
            <a:ext cx="3155790" cy="2674194"/>
          </a:xfrm>
          <a:custGeom>
            <a:avLst/>
            <a:gdLst/>
            <a:ahLst/>
            <a:cxnLst/>
            <a:rect l="l" t="t" r="r" b="b"/>
            <a:pathLst>
              <a:path w="3155790" h="2674194">
                <a:moveTo>
                  <a:pt x="0" y="0"/>
                </a:moveTo>
                <a:lnTo>
                  <a:pt x="3155790" y="0"/>
                </a:lnTo>
                <a:lnTo>
                  <a:pt x="3155790" y="2674194"/>
                </a:lnTo>
                <a:lnTo>
                  <a:pt x="0" y="2674194"/>
                </a:lnTo>
                <a:lnTo>
                  <a:pt x="0" y="0"/>
                </a:lnTo>
                <a:close/>
              </a:path>
            </a:pathLst>
          </a:custGeom>
          <a:blipFill>
            <a:blip r:embed="rId6"/>
            <a:stretch>
              <a:fillRect l="-30335" r="-20312"/>
            </a:stretch>
          </a:blipFill>
        </p:spPr>
        <p:txBody>
          <a:bodyPr/>
          <a:lstStyle/>
          <a:p>
            <a:endParaRPr lang="bg-BG"/>
          </a:p>
        </p:txBody>
      </p:sp>
      <p:sp>
        <p:nvSpPr>
          <p:cNvPr id="11" name="Freeform 11"/>
          <p:cNvSpPr/>
          <p:nvPr/>
        </p:nvSpPr>
        <p:spPr>
          <a:xfrm>
            <a:off x="11950007" y="213956"/>
            <a:ext cx="5807068" cy="3868959"/>
          </a:xfrm>
          <a:custGeom>
            <a:avLst/>
            <a:gdLst/>
            <a:ahLst/>
            <a:cxnLst/>
            <a:rect l="l" t="t" r="r" b="b"/>
            <a:pathLst>
              <a:path w="5807068" h="3868959">
                <a:moveTo>
                  <a:pt x="0" y="0"/>
                </a:moveTo>
                <a:lnTo>
                  <a:pt x="5807068" y="0"/>
                </a:lnTo>
                <a:lnTo>
                  <a:pt x="5807068" y="3868959"/>
                </a:lnTo>
                <a:lnTo>
                  <a:pt x="0" y="3868959"/>
                </a:lnTo>
                <a:lnTo>
                  <a:pt x="0" y="0"/>
                </a:lnTo>
                <a:close/>
              </a:path>
            </a:pathLst>
          </a:custGeom>
          <a:blipFill>
            <a:blip r:embed="rId7"/>
            <a:stretch>
              <a:fillRect/>
            </a:stretch>
          </a:blipFill>
        </p:spPr>
        <p:txBody>
          <a:bodyPr/>
          <a:lstStyle/>
          <a:p>
            <a:endParaRPr lang="bg-BG"/>
          </a:p>
        </p:txBody>
      </p:sp>
      <p:sp>
        <p:nvSpPr>
          <p:cNvPr id="12" name="Freeform 12"/>
          <p:cNvSpPr/>
          <p:nvPr/>
        </p:nvSpPr>
        <p:spPr>
          <a:xfrm>
            <a:off x="11950007" y="4747219"/>
            <a:ext cx="2976252" cy="2812558"/>
          </a:xfrm>
          <a:custGeom>
            <a:avLst/>
            <a:gdLst/>
            <a:ahLst/>
            <a:cxnLst/>
            <a:rect l="l" t="t" r="r" b="b"/>
            <a:pathLst>
              <a:path w="2976252" h="2812558">
                <a:moveTo>
                  <a:pt x="0" y="0"/>
                </a:moveTo>
                <a:lnTo>
                  <a:pt x="2976252" y="0"/>
                </a:lnTo>
                <a:lnTo>
                  <a:pt x="2976252" y="2812558"/>
                </a:lnTo>
                <a:lnTo>
                  <a:pt x="0" y="2812558"/>
                </a:lnTo>
                <a:lnTo>
                  <a:pt x="0" y="0"/>
                </a:lnTo>
                <a:close/>
              </a:path>
            </a:pathLst>
          </a:custGeom>
          <a:blipFill>
            <a:blip r:embed="rId8"/>
            <a:stretch>
              <a:fillRect/>
            </a:stretch>
          </a:blipFill>
        </p:spPr>
        <p:txBody>
          <a:bodyPr/>
          <a:lstStyle/>
          <a:p>
            <a:endParaRPr lang="bg-BG"/>
          </a:p>
        </p:txBody>
      </p:sp>
      <p:sp>
        <p:nvSpPr>
          <p:cNvPr id="13" name="Freeform 13"/>
          <p:cNvSpPr/>
          <p:nvPr/>
        </p:nvSpPr>
        <p:spPr>
          <a:xfrm>
            <a:off x="7433969" y="4916109"/>
            <a:ext cx="3697438" cy="2643668"/>
          </a:xfrm>
          <a:custGeom>
            <a:avLst/>
            <a:gdLst/>
            <a:ahLst/>
            <a:cxnLst/>
            <a:rect l="l" t="t" r="r" b="b"/>
            <a:pathLst>
              <a:path w="3697438" h="2643668">
                <a:moveTo>
                  <a:pt x="0" y="0"/>
                </a:moveTo>
                <a:lnTo>
                  <a:pt x="3697438" y="0"/>
                </a:lnTo>
                <a:lnTo>
                  <a:pt x="3697438" y="2643668"/>
                </a:lnTo>
                <a:lnTo>
                  <a:pt x="0" y="2643668"/>
                </a:lnTo>
                <a:lnTo>
                  <a:pt x="0" y="0"/>
                </a:lnTo>
                <a:close/>
              </a:path>
            </a:pathLst>
          </a:custGeom>
          <a:blipFill>
            <a:blip r:embed="rId9"/>
            <a:stretch>
              <a:fillRect/>
            </a:stretch>
          </a:blipFill>
        </p:spPr>
        <p:txBody>
          <a:bodyPr/>
          <a:lstStyle/>
          <a:p>
            <a:endParaRPr lang="bg-BG"/>
          </a:p>
        </p:txBody>
      </p:sp>
      <p:sp>
        <p:nvSpPr>
          <p:cNvPr id="14" name="Freeform 14"/>
          <p:cNvSpPr/>
          <p:nvPr/>
        </p:nvSpPr>
        <p:spPr>
          <a:xfrm>
            <a:off x="3350578" y="4401211"/>
            <a:ext cx="3264791" cy="3673464"/>
          </a:xfrm>
          <a:custGeom>
            <a:avLst/>
            <a:gdLst/>
            <a:ahLst/>
            <a:cxnLst/>
            <a:rect l="l" t="t" r="r" b="b"/>
            <a:pathLst>
              <a:path w="3264791" h="3673464">
                <a:moveTo>
                  <a:pt x="0" y="0"/>
                </a:moveTo>
                <a:lnTo>
                  <a:pt x="3264791" y="0"/>
                </a:lnTo>
                <a:lnTo>
                  <a:pt x="3264791" y="3673464"/>
                </a:lnTo>
                <a:lnTo>
                  <a:pt x="0" y="3673464"/>
                </a:lnTo>
                <a:lnTo>
                  <a:pt x="0" y="0"/>
                </a:lnTo>
                <a:close/>
              </a:path>
            </a:pathLst>
          </a:custGeom>
          <a:blipFill>
            <a:blip r:embed="rId10"/>
            <a:stretch>
              <a:fillRect/>
            </a:stretch>
          </a:blipFill>
        </p:spPr>
        <p:txBody>
          <a:bodyPr/>
          <a:lstStyle/>
          <a:p>
            <a:endParaRPr lang="bg-BG"/>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5032" b="-101801"/>
            </a:stretch>
          </a:blipFill>
        </p:spPr>
        <p:txBody>
          <a:bodyPr/>
          <a:lstStyle/>
          <a:p>
            <a:endParaRPr lang="bg-BG"/>
          </a:p>
        </p:txBody>
      </p:sp>
      <p:grpSp>
        <p:nvGrpSpPr>
          <p:cNvPr id="3" name="Group 3"/>
          <p:cNvGrpSpPr/>
          <p:nvPr/>
        </p:nvGrpSpPr>
        <p:grpSpPr>
          <a:xfrm>
            <a:off x="0" y="-293014"/>
            <a:ext cx="18289829" cy="5738026"/>
            <a:chOff x="0" y="0"/>
            <a:chExt cx="4817074" cy="1511250"/>
          </a:xfrm>
        </p:grpSpPr>
        <p:sp>
          <p:nvSpPr>
            <p:cNvPr id="4" name="Freeform 4"/>
            <p:cNvSpPr/>
            <p:nvPr/>
          </p:nvSpPr>
          <p:spPr>
            <a:xfrm>
              <a:off x="0" y="0"/>
              <a:ext cx="4817074" cy="1511250"/>
            </a:xfrm>
            <a:custGeom>
              <a:avLst/>
              <a:gdLst/>
              <a:ahLst/>
              <a:cxnLst/>
              <a:rect l="l" t="t" r="r" b="b"/>
              <a:pathLst>
                <a:path w="4817074" h="1511250">
                  <a:moveTo>
                    <a:pt x="0" y="0"/>
                  </a:moveTo>
                  <a:lnTo>
                    <a:pt x="4817074" y="0"/>
                  </a:lnTo>
                  <a:lnTo>
                    <a:pt x="4817074" y="1511250"/>
                  </a:lnTo>
                  <a:lnTo>
                    <a:pt x="0" y="1511250"/>
                  </a:lnTo>
                  <a:close/>
                </a:path>
              </a:pathLst>
            </a:custGeom>
            <a:gradFill rotWithShape="1">
              <a:gsLst>
                <a:gs pos="0">
                  <a:srgbClr val="000000">
                    <a:alpha val="100000"/>
                  </a:srgbClr>
                </a:gs>
                <a:gs pos="100000">
                  <a:srgbClr val="000000">
                    <a:alpha val="0"/>
                  </a:srgbClr>
                </a:gs>
              </a:gsLst>
              <a:lin ang="5400000"/>
            </a:gradFill>
          </p:spPr>
          <p:txBody>
            <a:bodyPr/>
            <a:lstStyle/>
            <a:p>
              <a:endParaRPr lang="bg-BG"/>
            </a:p>
          </p:txBody>
        </p:sp>
        <p:sp>
          <p:nvSpPr>
            <p:cNvPr id="5" name="TextBox 5"/>
            <p:cNvSpPr txBox="1"/>
            <p:nvPr/>
          </p:nvSpPr>
          <p:spPr>
            <a:xfrm>
              <a:off x="0" y="-38100"/>
              <a:ext cx="4817074" cy="1549350"/>
            </a:xfrm>
            <a:prstGeom prst="rect">
              <a:avLst/>
            </a:prstGeom>
          </p:spPr>
          <p:txBody>
            <a:bodyPr lIns="50800" tIns="50800" rIns="50800" bIns="50800" rtlCol="0" anchor="ctr"/>
            <a:lstStyle/>
            <a:p>
              <a:pPr algn="ctr">
                <a:lnSpc>
                  <a:spcPts val="2659"/>
                </a:lnSpc>
              </a:pPr>
              <a:endParaRPr/>
            </a:p>
          </p:txBody>
        </p:sp>
      </p:grpSp>
      <p:sp>
        <p:nvSpPr>
          <p:cNvPr id="6" name="AutoShape 6"/>
          <p:cNvSpPr/>
          <p:nvPr/>
        </p:nvSpPr>
        <p:spPr>
          <a:xfrm flipH="1">
            <a:off x="1028700" y="3466479"/>
            <a:ext cx="1628673" cy="0"/>
          </a:xfrm>
          <a:prstGeom prst="line">
            <a:avLst/>
          </a:prstGeom>
          <a:ln w="38100" cap="flat">
            <a:solidFill>
              <a:srgbClr val="D40019"/>
            </a:solidFill>
            <a:prstDash val="solid"/>
            <a:headEnd type="none" w="sm" len="sm"/>
            <a:tailEnd type="none" w="sm" len="sm"/>
          </a:ln>
        </p:spPr>
        <p:txBody>
          <a:bodyPr/>
          <a:lstStyle/>
          <a:p>
            <a:endParaRPr lang="bg-BG"/>
          </a:p>
        </p:txBody>
      </p:sp>
      <p:sp>
        <p:nvSpPr>
          <p:cNvPr id="7" name="Freeform 7"/>
          <p:cNvSpPr/>
          <p:nvPr/>
        </p:nvSpPr>
        <p:spPr>
          <a:xfrm>
            <a:off x="-629075" y="4397053"/>
            <a:ext cx="9177290" cy="9258300"/>
          </a:xfrm>
          <a:custGeom>
            <a:avLst/>
            <a:gdLst/>
            <a:ahLst/>
            <a:cxnLst/>
            <a:rect l="l" t="t" r="r" b="b"/>
            <a:pathLst>
              <a:path w="9177290" h="9258300">
                <a:moveTo>
                  <a:pt x="0" y="0"/>
                </a:moveTo>
                <a:lnTo>
                  <a:pt x="9177290" y="0"/>
                </a:lnTo>
                <a:lnTo>
                  <a:pt x="9177290" y="9258300"/>
                </a:lnTo>
                <a:lnTo>
                  <a:pt x="0" y="9258300"/>
                </a:lnTo>
                <a:lnTo>
                  <a:pt x="0" y="0"/>
                </a:lnTo>
                <a:close/>
              </a:path>
            </a:pathLst>
          </a:custGeom>
          <a:blipFill>
            <a:blip r:embed="rId3"/>
            <a:stretch>
              <a:fillRect/>
            </a:stretch>
          </a:blipFill>
        </p:spPr>
        <p:txBody>
          <a:bodyPr/>
          <a:lstStyle/>
          <a:p>
            <a:endParaRPr lang="bg-BG"/>
          </a:p>
        </p:txBody>
      </p:sp>
      <p:sp>
        <p:nvSpPr>
          <p:cNvPr id="8" name="TextBox 8"/>
          <p:cNvSpPr txBox="1"/>
          <p:nvPr/>
        </p:nvSpPr>
        <p:spPr>
          <a:xfrm>
            <a:off x="1905166" y="5957132"/>
            <a:ext cx="14479496" cy="2553956"/>
          </a:xfrm>
          <a:prstGeom prst="rect">
            <a:avLst/>
          </a:prstGeom>
        </p:spPr>
        <p:txBody>
          <a:bodyPr lIns="0" tIns="0" rIns="0" bIns="0" rtlCol="0" anchor="t">
            <a:spAutoFit/>
          </a:bodyPr>
          <a:lstStyle/>
          <a:p>
            <a:pPr algn="r">
              <a:lnSpc>
                <a:spcPts val="16743"/>
              </a:lnSpc>
            </a:pPr>
            <a:r>
              <a:rPr lang="en-US" sz="25368" b="1" spc="-1243">
                <a:solidFill>
                  <a:srgbClr val="FFFFFF"/>
                </a:solidFill>
                <a:latin typeface="TS Damas Sans Bold"/>
                <a:ea typeface="TS Damas Sans Bold"/>
                <a:cs typeface="TS Damas Sans Bold"/>
                <a:sym typeface="TS Damas Sans Bold"/>
              </a:rPr>
              <a:t>OUR PROJECT</a:t>
            </a:r>
          </a:p>
        </p:txBody>
      </p:sp>
      <p:sp>
        <p:nvSpPr>
          <p:cNvPr id="9" name="TextBox 9"/>
          <p:cNvSpPr txBox="1"/>
          <p:nvPr/>
        </p:nvSpPr>
        <p:spPr>
          <a:xfrm>
            <a:off x="-1283983" y="1451717"/>
            <a:ext cx="19571983" cy="2945336"/>
          </a:xfrm>
          <a:prstGeom prst="rect">
            <a:avLst/>
          </a:prstGeom>
        </p:spPr>
        <p:txBody>
          <a:bodyPr lIns="0" tIns="0" rIns="0" bIns="0" rtlCol="0" anchor="t">
            <a:spAutoFit/>
          </a:bodyPr>
          <a:lstStyle/>
          <a:p>
            <a:pPr algn="r">
              <a:lnSpc>
                <a:spcPts val="21200"/>
              </a:lnSpc>
            </a:pPr>
            <a:r>
              <a:rPr lang="en-US" sz="24368" b="1" spc="-1194">
                <a:solidFill>
                  <a:srgbClr val="D40019"/>
                </a:solidFill>
                <a:latin typeface="TS Damas Sans Bold"/>
                <a:ea typeface="TS Damas Sans Bold"/>
                <a:cs typeface="TS Damas Sans Bold"/>
                <a:sym typeface="TS Damas Sans Bold"/>
              </a:rPr>
              <a:t>LET’S MOVE ON 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89</Words>
  <Application>Microsoft Office PowerPoint</Application>
  <PresentationFormat>Custom</PresentationFormat>
  <Paragraphs>20</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TS Damas Sans Bold</vt:lpstr>
      <vt:lpstr>TT Hoves</vt:lpstr>
      <vt:lpstr>TT Hoves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dc:title>
  <cp:lastModifiedBy>Мариела Я. Апостолова</cp:lastModifiedBy>
  <cp:revision>2</cp:revision>
  <dcterms:created xsi:type="dcterms:W3CDTF">2006-08-16T00:00:00Z</dcterms:created>
  <dcterms:modified xsi:type="dcterms:W3CDTF">2026-05-18T17:39:12Z</dcterms:modified>
  <dc:identifier>DAHJ_56InUw</dc:identifier>
</cp:coreProperties>
</file>